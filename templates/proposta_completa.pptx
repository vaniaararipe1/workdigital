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  <p:embeddedFont>
      <p:font typeface="Nunito ExtraBold"/>
      <p:bold r:id="rId31"/>
      <p:boldItalic r:id="rId32"/>
    </p:embeddedFont>
    <p:embeddedFont>
      <p:font typeface="Space Grotesk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78">
          <p15:clr>
            <a:srgbClr val="747775"/>
          </p15:clr>
        </p15:guide>
        <p15:guide id="2" orient="horz" pos="484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2494">
          <p15:clr>
            <a:srgbClr val="747775"/>
          </p15:clr>
        </p15:guide>
        <p15:guide id="5" orient="horz" pos="275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78"/>
        <p:guide pos="484" orient="horz"/>
        <p:guide pos="2880"/>
        <p:guide pos="2494" orient="horz"/>
        <p:guide pos="27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ExtraBold-bold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33" Type="http://schemas.openxmlformats.org/officeDocument/2006/relationships/font" Target="fonts/SpaceGrotesk-regular.fntdata"/><Relationship Id="rId10" Type="http://schemas.openxmlformats.org/officeDocument/2006/relationships/slide" Target="slides/slide5.xml"/><Relationship Id="rId32" Type="http://schemas.openxmlformats.org/officeDocument/2006/relationships/font" Target="fonts/NunitoExtra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SpaceGrotesk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3cc4bda8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3cc4bda8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3cc4bda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3cc4bda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3cc4bda8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3cc4bda8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3cc4bda8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3cc4bda8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3cc4bda8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3cc4bda8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3cc4bda8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3cc4bda8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3cc4bda8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3cc4bda8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3cc4bda8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3cc4bda8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3cc4bda8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3cc4bda8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3cc4bda8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3cc4bda8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3cc4bda8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3cc4bda8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3cc4bda8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3cc4bda8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3cc4bda8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3cc4bda8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cc4bda8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3cc4bda8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3cc4bda8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3cc4bda8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3cc4bda8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3cc4bda8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3cc4bda8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3cc4bda8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3cc4bda8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3cc4bda8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3cc4bda8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3cc4bda8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3cc4bda8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3cc4bda8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" y="0"/>
            <a:ext cx="91439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" y="0"/>
            <a:ext cx="91439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0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title="0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0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 title="1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title="1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 title="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 title="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 title="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 title="1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 title="1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8"/>
          <p:cNvSpPr txBox="1"/>
          <p:nvPr/>
        </p:nvSpPr>
        <p:spPr>
          <a:xfrm>
            <a:off x="4804279" y="2030318"/>
            <a:ext cx="34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Nome do cliente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4814639" y="2658968"/>
            <a:ext cx="34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Nome da empresa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" name="Google Shape;132;p28"/>
          <p:cNvSpPr txBox="1"/>
          <p:nvPr/>
        </p:nvSpPr>
        <p:spPr>
          <a:xfrm>
            <a:off x="4829345" y="3329386"/>
            <a:ext cx="34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Criação de menu pop-up e edição de conteúdo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28"/>
          <p:cNvSpPr txBox="1"/>
          <p:nvPr/>
        </p:nvSpPr>
        <p:spPr>
          <a:xfrm>
            <a:off x="4829345" y="3963709"/>
            <a:ext cx="34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15 dias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/>
        </p:nvSpPr>
        <p:spPr>
          <a:xfrm>
            <a:off x="506675" y="624650"/>
            <a:ext cx="359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latin typeface="Space Grotesk"/>
                <a:ea typeface="Space Grotesk"/>
                <a:cs typeface="Space Grotesk"/>
                <a:sym typeface="Space Grotesk"/>
              </a:rPr>
              <a:t>Detalhes do projeto</a:t>
            </a:r>
            <a:endParaRPr b="1" sz="2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29"/>
          <p:cNvSpPr txBox="1"/>
          <p:nvPr/>
        </p:nvSpPr>
        <p:spPr>
          <a:xfrm>
            <a:off x="506675" y="3872300"/>
            <a:ext cx="226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*Prazo válido a partir da assinatura do contrato e suas condições dispostas.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" name="Google Shape;140;p29"/>
          <p:cNvSpPr txBox="1"/>
          <p:nvPr/>
        </p:nvSpPr>
        <p:spPr>
          <a:xfrm>
            <a:off x="4482468" y="637666"/>
            <a:ext cx="406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602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Total de páginas e/ou seções:</a:t>
            </a:r>
            <a:endParaRPr b="1">
              <a:solidFill>
                <a:srgbClr val="6025E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29"/>
          <p:cNvSpPr txBox="1"/>
          <p:nvPr/>
        </p:nvSpPr>
        <p:spPr>
          <a:xfrm>
            <a:off x="4482506" y="1302476"/>
            <a:ext cx="406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602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CMS utilizado:</a:t>
            </a:r>
            <a:endParaRPr b="1">
              <a:solidFill>
                <a:srgbClr val="6025E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29"/>
          <p:cNvSpPr txBox="1"/>
          <p:nvPr/>
        </p:nvSpPr>
        <p:spPr>
          <a:xfrm>
            <a:off x="4475853" y="1954001"/>
            <a:ext cx="406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602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Prazo de entrega:</a:t>
            </a:r>
            <a:endParaRPr b="1">
              <a:solidFill>
                <a:srgbClr val="6025E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29"/>
          <p:cNvSpPr txBox="1"/>
          <p:nvPr/>
        </p:nvSpPr>
        <p:spPr>
          <a:xfrm>
            <a:off x="4475603" y="2616068"/>
            <a:ext cx="406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602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Estrutura do projeto:</a:t>
            </a:r>
            <a:endParaRPr b="1">
              <a:solidFill>
                <a:srgbClr val="6025E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44" name="Google Shape;144;p29"/>
          <p:cNvGrpSpPr/>
          <p:nvPr/>
        </p:nvGrpSpPr>
        <p:grpSpPr>
          <a:xfrm>
            <a:off x="610587" y="4764799"/>
            <a:ext cx="8455331" cy="307800"/>
            <a:chOff x="610587" y="4764799"/>
            <a:chExt cx="8455331" cy="307800"/>
          </a:xfrm>
        </p:grpSpPr>
        <p:sp>
          <p:nvSpPr>
            <p:cNvPr id="145" name="Google Shape;145;p29"/>
            <p:cNvSpPr txBox="1"/>
            <p:nvPr/>
          </p:nvSpPr>
          <p:spPr>
            <a:xfrm>
              <a:off x="7528163" y="4764799"/>
              <a:ext cx="1172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© Work Digital 2026</a:t>
              </a:r>
              <a:endParaRPr sz="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46" name="Google Shape;146;p29"/>
            <p:cNvSpPr txBox="1"/>
            <p:nvPr/>
          </p:nvSpPr>
          <p:spPr>
            <a:xfrm>
              <a:off x="8702618" y="4764799"/>
              <a:ext cx="363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dk1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17</a:t>
              </a:r>
              <a:endParaRPr sz="8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  <p:sp>
          <p:nvSpPr>
            <p:cNvPr id="147" name="Google Shape;147;p29"/>
            <p:cNvSpPr/>
            <p:nvPr/>
          </p:nvSpPr>
          <p:spPr>
            <a:xfrm>
              <a:off x="610587" y="4848949"/>
              <a:ext cx="139500" cy="1395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29"/>
          <p:cNvSpPr txBox="1"/>
          <p:nvPr/>
        </p:nvSpPr>
        <p:spPr>
          <a:xfrm>
            <a:off x="4478422" y="933168"/>
            <a:ext cx="34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Até 10 páginas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" name="Google Shape;149;p29"/>
          <p:cNvSpPr txBox="1"/>
          <p:nvPr/>
        </p:nvSpPr>
        <p:spPr>
          <a:xfrm>
            <a:off x="4480089" y="1634825"/>
            <a:ext cx="34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WordPress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" name="Google Shape;150;p29"/>
          <p:cNvSpPr txBox="1"/>
          <p:nvPr/>
        </p:nvSpPr>
        <p:spPr>
          <a:xfrm>
            <a:off x="4482107" y="2246768"/>
            <a:ext cx="34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70 dias*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" name="Google Shape;151;p29"/>
          <p:cNvSpPr txBox="1"/>
          <p:nvPr/>
        </p:nvSpPr>
        <p:spPr>
          <a:xfrm>
            <a:off x="4484105" y="2892137"/>
            <a:ext cx="34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Nome das páginas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/>
        </p:nvSpPr>
        <p:spPr>
          <a:xfrm>
            <a:off x="506675" y="624650"/>
            <a:ext cx="3599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latin typeface="Space Grotesk"/>
                <a:ea typeface="Space Grotesk"/>
                <a:cs typeface="Space Grotesk"/>
                <a:sym typeface="Space Grotesk"/>
              </a:rPr>
              <a:t>Módulos e funções</a:t>
            </a:r>
            <a:endParaRPr b="1" sz="20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602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inclusos</a:t>
            </a:r>
            <a:r>
              <a:rPr b="1" lang="pt-BR" sz="2000">
                <a:latin typeface="Space Grotesk"/>
                <a:ea typeface="Space Grotesk"/>
                <a:cs typeface="Space Grotesk"/>
                <a:sym typeface="Space Grotesk"/>
              </a:rPr>
              <a:t> no projeto</a:t>
            </a:r>
            <a:endParaRPr b="1" sz="2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30"/>
          <p:cNvSpPr txBox="1"/>
          <p:nvPr/>
        </p:nvSpPr>
        <p:spPr>
          <a:xfrm>
            <a:off x="4482475" y="662725"/>
            <a:ext cx="43323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Desenvolvimento: Front e back-end, HTML/CSS, via WordPress;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Novas telas para layout (UX e UI);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Blog externo (template: Épico) para postagem de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artigos/notícias, integrado ao site;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Painel de controle (WordPress) para edição de todo conteúdo dinâmico (não incluso a modificação estrutural);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Integração com WhatsApp Business, RD Station, chat online externo e outras ferramentas (a </a:t>
            </a: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consultar</a:t>
            </a: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Melhores práticas para aplicação de SEO e alta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performance;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Integração com Google Analytics, Google Tag Manager e Google Search Console;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58" name="Google Shape;158;p30"/>
          <p:cNvGrpSpPr/>
          <p:nvPr/>
        </p:nvGrpSpPr>
        <p:grpSpPr>
          <a:xfrm>
            <a:off x="610587" y="4764799"/>
            <a:ext cx="8455331" cy="307800"/>
            <a:chOff x="610587" y="4764799"/>
            <a:chExt cx="8455331" cy="307800"/>
          </a:xfrm>
        </p:grpSpPr>
        <p:sp>
          <p:nvSpPr>
            <p:cNvPr id="159" name="Google Shape;159;p30"/>
            <p:cNvSpPr txBox="1"/>
            <p:nvPr/>
          </p:nvSpPr>
          <p:spPr>
            <a:xfrm>
              <a:off x="7528163" y="4764799"/>
              <a:ext cx="1172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© Work Digital 2026</a:t>
              </a:r>
              <a:endParaRPr sz="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60" name="Google Shape;160;p30"/>
            <p:cNvSpPr txBox="1"/>
            <p:nvPr/>
          </p:nvSpPr>
          <p:spPr>
            <a:xfrm>
              <a:off x="8702618" y="4764799"/>
              <a:ext cx="363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dk1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18</a:t>
              </a:r>
              <a:endParaRPr sz="8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  <p:sp>
          <p:nvSpPr>
            <p:cNvPr id="161" name="Google Shape;161;p30"/>
            <p:cNvSpPr/>
            <p:nvPr/>
          </p:nvSpPr>
          <p:spPr>
            <a:xfrm>
              <a:off x="610587" y="4848949"/>
              <a:ext cx="139500" cy="1395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/>
        </p:nvSpPr>
        <p:spPr>
          <a:xfrm>
            <a:off x="506675" y="624650"/>
            <a:ext cx="3599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latin typeface="Space Grotesk"/>
                <a:ea typeface="Space Grotesk"/>
                <a:cs typeface="Space Grotesk"/>
                <a:sym typeface="Space Grotesk"/>
              </a:rPr>
              <a:t>Módulos e funções </a:t>
            </a:r>
            <a:r>
              <a:rPr b="1" lang="pt-BR" sz="2000">
                <a:solidFill>
                  <a:srgbClr val="602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não</a:t>
            </a:r>
            <a:endParaRPr b="1" sz="2000">
              <a:solidFill>
                <a:srgbClr val="6025E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inclusos</a:t>
            </a:r>
            <a:r>
              <a:rPr b="1" lang="pt-BR" sz="2000">
                <a:latin typeface="Space Grotesk"/>
                <a:ea typeface="Space Grotesk"/>
                <a:cs typeface="Space Grotesk"/>
                <a:sym typeface="Space Grotesk"/>
              </a:rPr>
              <a:t> no projeto</a:t>
            </a:r>
            <a:endParaRPr b="1" sz="2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31"/>
          <p:cNvSpPr txBox="1"/>
          <p:nvPr/>
        </p:nvSpPr>
        <p:spPr>
          <a:xfrm>
            <a:off x="4482468" y="662732"/>
            <a:ext cx="40662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Produção e cadastro de conteúdo;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Contratação/manutenção de hospedagem e domínio - indicamos a melhor hospedagem para o projeto;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Desenvolvimento de sistema interno ou terceiros (CRM) e/ou intranet;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Sistema de ticket para suporte, da empresa ou cliente;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Páginas adicionais não exibidas nesta proposta;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Módulos não descritos na proposta.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68" name="Google Shape;168;p31"/>
          <p:cNvGrpSpPr/>
          <p:nvPr/>
        </p:nvGrpSpPr>
        <p:grpSpPr>
          <a:xfrm>
            <a:off x="610587" y="4764799"/>
            <a:ext cx="8455331" cy="307800"/>
            <a:chOff x="610587" y="4764799"/>
            <a:chExt cx="8455331" cy="307800"/>
          </a:xfrm>
        </p:grpSpPr>
        <p:sp>
          <p:nvSpPr>
            <p:cNvPr id="169" name="Google Shape;169;p31"/>
            <p:cNvSpPr txBox="1"/>
            <p:nvPr/>
          </p:nvSpPr>
          <p:spPr>
            <a:xfrm>
              <a:off x="7528163" y="4764799"/>
              <a:ext cx="1172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© Work Digital 2026</a:t>
              </a:r>
              <a:endParaRPr sz="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70" name="Google Shape;170;p31"/>
            <p:cNvSpPr txBox="1"/>
            <p:nvPr/>
          </p:nvSpPr>
          <p:spPr>
            <a:xfrm>
              <a:off x="8702618" y="4764799"/>
              <a:ext cx="363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dk1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19</a:t>
              </a:r>
              <a:endParaRPr sz="8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  <p:sp>
          <p:nvSpPr>
            <p:cNvPr id="171" name="Google Shape;171;p31"/>
            <p:cNvSpPr/>
            <p:nvPr/>
          </p:nvSpPr>
          <p:spPr>
            <a:xfrm>
              <a:off x="610587" y="4848949"/>
              <a:ext cx="139500" cy="1395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/>
        </p:nvSpPr>
        <p:spPr>
          <a:xfrm>
            <a:off x="506675" y="624650"/>
            <a:ext cx="359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latin typeface="Space Grotesk"/>
                <a:ea typeface="Space Grotesk"/>
                <a:cs typeface="Space Grotesk"/>
                <a:sym typeface="Space Grotesk"/>
              </a:rPr>
              <a:t>Investimento</a:t>
            </a:r>
            <a:endParaRPr b="1" sz="2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4482468" y="654377"/>
            <a:ext cx="40662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Produção e cadastro de conteúdo;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Contratação/manutenção de hospedagem e domínio - indicamos a melhor hospedagem para o projeto;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Desenvolvimento de sistema interno ou terceiros (CRM) e/ou intranet;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Sistema de ticket para suporte, da empresa ou cliente;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Páginas adicionais não exibidas nesta proposta;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Módulos não descritos na proposta.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78" name="Google Shape;178;p32"/>
          <p:cNvGrpSpPr/>
          <p:nvPr/>
        </p:nvGrpSpPr>
        <p:grpSpPr>
          <a:xfrm>
            <a:off x="610587" y="4764799"/>
            <a:ext cx="8455331" cy="307800"/>
            <a:chOff x="610587" y="4764799"/>
            <a:chExt cx="8455331" cy="307800"/>
          </a:xfrm>
        </p:grpSpPr>
        <p:sp>
          <p:nvSpPr>
            <p:cNvPr id="179" name="Google Shape;179;p32"/>
            <p:cNvSpPr txBox="1"/>
            <p:nvPr/>
          </p:nvSpPr>
          <p:spPr>
            <a:xfrm>
              <a:off x="7528163" y="4764799"/>
              <a:ext cx="1172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© Work Digital 2026</a:t>
              </a:r>
              <a:endParaRPr sz="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80" name="Google Shape;180;p32"/>
            <p:cNvSpPr txBox="1"/>
            <p:nvPr/>
          </p:nvSpPr>
          <p:spPr>
            <a:xfrm>
              <a:off x="8702618" y="4764799"/>
              <a:ext cx="363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dk1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20</a:t>
              </a:r>
              <a:endParaRPr sz="800">
                <a:solidFill>
                  <a:schemeClr val="dk1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  <p:sp>
          <p:nvSpPr>
            <p:cNvPr id="181" name="Google Shape;181;p32"/>
            <p:cNvSpPr/>
            <p:nvPr/>
          </p:nvSpPr>
          <p:spPr>
            <a:xfrm>
              <a:off x="610587" y="4848949"/>
              <a:ext cx="139500" cy="1395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32"/>
          <p:cNvSpPr txBox="1"/>
          <p:nvPr/>
        </p:nvSpPr>
        <p:spPr>
          <a:xfrm>
            <a:off x="515029" y="2560125"/>
            <a:ext cx="3599700" cy="1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Observações:</a:t>
            </a:r>
            <a:endParaRPr b="1" sz="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 iniciar o projeto precisamos do detalhamento completo de todas as páginas;</a:t>
            </a:r>
            <a:endParaRPr sz="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prazo para conclusão é de 70 dias, com entregas periódicas, contando a partir da data combinada (estando com o contrato assinado e pagamentos previamente alinhados com nosso financeiro);</a:t>
            </a:r>
            <a:endParaRPr sz="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O valor total do projeto pode ser dividido em parcelas (boleto bancário ou PIX) diluídas no decorrer dos 70 dias, lembrando que o projeto só será entregue após o pagamento de 100% do valor combinado.</a:t>
            </a:r>
            <a:endParaRPr sz="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3" title="2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2500" y="-125000"/>
            <a:ext cx="9606499" cy="5403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